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5" r:id="rId1"/>
  </p:sldMasterIdLst>
  <p:notesMasterIdLst>
    <p:notesMasterId r:id="rId20"/>
  </p:notesMasterIdLst>
  <p:sldIdLst>
    <p:sldId id="256" r:id="rId2"/>
    <p:sldId id="257" r:id="rId3"/>
    <p:sldId id="258" r:id="rId4"/>
    <p:sldId id="278" r:id="rId5"/>
    <p:sldId id="277" r:id="rId6"/>
    <p:sldId id="259" r:id="rId7"/>
    <p:sldId id="268" r:id="rId8"/>
    <p:sldId id="279" r:id="rId9"/>
    <p:sldId id="282" r:id="rId10"/>
    <p:sldId id="280" r:id="rId11"/>
    <p:sldId id="260" r:id="rId12"/>
    <p:sldId id="281" r:id="rId13"/>
    <p:sldId id="269" r:id="rId14"/>
    <p:sldId id="285" r:id="rId15"/>
    <p:sldId id="276" r:id="rId16"/>
    <p:sldId id="283" r:id="rId17"/>
    <p:sldId id="262" r:id="rId18"/>
    <p:sldId id="263" r:id="rId19"/>
  </p:sldIdLst>
  <p:sldSz cx="9144000" cy="5143500" type="screen16x9"/>
  <p:notesSz cx="6858000" cy="9144000"/>
  <p:embeddedFontLst>
    <p:embeddedFont>
      <p:font typeface="Cambria Math" panose="02040503050406030204" pitchFamily="18" charset="0"/>
      <p:regular r:id="rId21"/>
    </p:embeddedFont>
    <p:embeddedFont>
      <p:font typeface="Open Sans" panose="020B0606030504020204" pitchFamily="34" charset="0"/>
      <p:regular r:id="rId22"/>
      <p:bold r:id="rId23"/>
      <p:italic r:id="rId24"/>
      <p:boldItalic r:id="rId25"/>
    </p:embeddedFont>
    <p:embeddedFont>
      <p:font typeface="Open Sans Light" panose="020B0306030504020204" pitchFamily="34" charset="0"/>
      <p:regular r:id="rId26"/>
      <p:italic r:id="rId2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74"/>
    <p:restoredTop sz="68672"/>
  </p:normalViewPr>
  <p:slideViewPr>
    <p:cSldViewPr snapToGrid="0">
      <p:cViewPr varScale="1">
        <p:scale>
          <a:sx n="106" d="100"/>
          <a:sy n="106" d="100"/>
        </p:scale>
        <p:origin x="1888" y="17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font" Target="fonts/font7.fnt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:notes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1</a:t>
            </a:fld>
            <a:endParaRPr sz="1200" b="0" i="0" u="none" strike="noStrike" cap="non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0" name="Google Shape;5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1" name="Google Shape;51;p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150cedf37f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150cedf37f0_0_0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" name="Google Shape;60;g150cedf37f0_0_0:notes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17a829ec0e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17a829ec0e2_0_0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Also called direct proof</a:t>
            </a:r>
            <a:endParaRPr/>
          </a:p>
        </p:txBody>
      </p:sp>
      <p:sp>
        <p:nvSpPr>
          <p:cNvPr id="67" name="Google Shape;67;g17a829ec0e2_0_0:notes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17a829ec0e2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17a829ec0e2_0_35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" name="Google Shape;75;g17a829ec0e2_0_35:notes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 = k_1 a, c = k_2 b. c = k_2 k_1 a. Since k_2 k_1 \in N, a | 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7</a:t>
            </a:fld>
            <a:endParaRPr lang="en-US" sz="1200" b="0" i="0" u="none" strike="noStrike" cap="non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70475226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runestone.academy</a:t>
            </a:r>
            <a:r>
              <a:rPr lang="en-US" dirty="0"/>
              <a:t>/ns/books/published/</a:t>
            </a:r>
            <a:r>
              <a:rPr lang="en-US" dirty="0" err="1"/>
              <a:t>DiscreteMathText</a:t>
            </a:r>
            <a:r>
              <a:rPr lang="en-US" dirty="0"/>
              <a:t>/directproof4-1.html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8</a:t>
            </a:fld>
            <a:endParaRPr lang="en-US" sz="1200" b="0" i="0" u="none" strike="noStrike" cap="non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00458504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17a829ec0e2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17a829ec0e2_0_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Also called proof by exhaustion</a:t>
            </a:r>
            <a:endParaRPr/>
          </a:p>
        </p:txBody>
      </p:sp>
      <p:sp>
        <p:nvSpPr>
          <p:cNvPr id="82" name="Google Shape;82;g17a829ec0e2_0_6:notes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17a829ec0e2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17a829ec0e2_0_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Also called proof by exhaustion</a:t>
            </a:r>
            <a:endParaRPr/>
          </a:p>
        </p:txBody>
      </p:sp>
      <p:sp>
        <p:nvSpPr>
          <p:cNvPr id="82" name="Google Shape;82;g17a829ec0e2_0_6:notes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8802403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17a829ec0e2_0_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17a829ec0e2_0_4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g17a829ec0e2_0_41:notes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0501766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runestone.academy</a:t>
            </a:r>
            <a:r>
              <a:rPr lang="en-US" dirty="0"/>
              <a:t>/ns/books/published/</a:t>
            </a:r>
            <a:r>
              <a:rPr lang="en-US" dirty="0" err="1"/>
              <a:t>DiscreteMathText</a:t>
            </a:r>
            <a:r>
              <a:rPr lang="en-US" dirty="0"/>
              <a:t>/cases4-4.html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14</a:t>
            </a:fld>
            <a:endParaRPr lang="en-US" sz="1200" b="0" i="0" u="none" strike="noStrike" cap="non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58024842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17a829ec0e2_0_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17a829ec0e2_0_4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n-US" dirty="0"/>
              <a:t>Proof by cases on q mod 3. q mod 3 = 0 ruled out by assumption. If q mod 3 = 1, then q^2 = (3k+1)^2 = 9k^2 + 6k + 1 = 3(3k^2 + 2k) + 1. If q mod 3 = 2, then q^2 = (3k+2)^2 = 9k^2 + 12k + 4 = 3(3k^2 + 4k + 1) + 1.</a:t>
            </a:r>
          </a:p>
        </p:txBody>
      </p:sp>
      <p:sp>
        <p:nvSpPr>
          <p:cNvPr id="89" name="Google Shape;89;g17a829ec0e2_0_41:notes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0989008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runestone.academy</a:t>
            </a:r>
            <a:r>
              <a:rPr lang="en-US" dirty="0"/>
              <a:t>/ns/books/published/</a:t>
            </a:r>
            <a:r>
              <a:rPr lang="en-US" dirty="0" err="1"/>
              <a:t>DiscreteMathText</a:t>
            </a:r>
            <a:r>
              <a:rPr lang="en-US" dirty="0"/>
              <a:t>/cases4-4.html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16</a:t>
            </a:fld>
            <a:endParaRPr lang="en-US" sz="1200" b="0" i="0" u="none" strike="noStrike" cap="non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46267489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17a829ec0e2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17a829ec0e2_0_12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g17a829ec0e2_0_12:notes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17a829ec0e2_0_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17a829ec0e2_0_47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g17a829ec0e2_0_47:notes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>
  <p:cSld name="Title Slide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BB0027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22" name="Google Shape;22;p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209800" y="895350"/>
            <a:ext cx="3429000" cy="3063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23;p2" descr="_Plaid-Digital_FINAL-NEW.png"/>
          <p:cNvPicPr preferRelativeResize="0"/>
          <p:nvPr/>
        </p:nvPicPr>
        <p:blipFill rotWithShape="1">
          <a:blip r:embed="rId3">
            <a:alphaModFix/>
          </a:blip>
          <a:srcRect l="84737" t="23988" r="4770" b="1989"/>
          <a:stretch/>
        </p:blipFill>
        <p:spPr>
          <a:xfrm>
            <a:off x="457200" y="0"/>
            <a:ext cx="790575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BB0027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25" name="Google Shape;25;p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209800" y="895350"/>
            <a:ext cx="3429000" cy="3063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2" descr="_Plaid-Digital_FINAL-NEW.png"/>
          <p:cNvPicPr preferRelativeResize="0"/>
          <p:nvPr/>
        </p:nvPicPr>
        <p:blipFill rotWithShape="1">
          <a:blip r:embed="rId3">
            <a:alphaModFix/>
          </a:blip>
          <a:srcRect l="84737" t="23988" r="4770" b="1989"/>
          <a:stretch/>
        </p:blipFill>
        <p:spPr>
          <a:xfrm>
            <a:off x="457200" y="0"/>
            <a:ext cx="7905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"/>
          <p:cNvSpPr txBox="1">
            <a:spLocks noGrp="1"/>
          </p:cNvSpPr>
          <p:nvPr>
            <p:ph type="title"/>
          </p:nvPr>
        </p:nvSpPr>
        <p:spPr>
          <a:xfrm>
            <a:off x="457200" y="361950"/>
            <a:ext cx="82296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 Column">
  <p:cSld name="1 Column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 txBox="1">
            <a:spLocks noGrp="1"/>
          </p:cNvSpPr>
          <p:nvPr>
            <p:ph type="title"/>
          </p:nvPr>
        </p:nvSpPr>
        <p:spPr>
          <a:xfrm>
            <a:off x="457200" y="361950"/>
            <a:ext cx="82296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35433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•"/>
              <a:defRPr/>
            </a:lvl2pPr>
            <a:lvl3pPr marL="1371600" lvl="2" indent="-35433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–"/>
              <a:defRPr/>
            </a:lvl3pPr>
            <a:lvl4pPr marL="1828800" lvl="3" indent="-35433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•"/>
              <a:defRPr/>
            </a:lvl4pPr>
            <a:lvl5pPr marL="2286000" lvl="4" indent="-354329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–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 Column">
  <p:cSld name="2 Column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361950"/>
            <a:ext cx="82296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39624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35433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•"/>
              <a:defRPr/>
            </a:lvl2pPr>
            <a:lvl3pPr marL="1371600" lvl="2" indent="-35433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–"/>
              <a:defRPr/>
            </a:lvl3pPr>
            <a:lvl4pPr marL="1828800" lvl="3" indent="-35433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•"/>
              <a:defRPr/>
            </a:lvl4pPr>
            <a:lvl5pPr marL="2286000" lvl="4" indent="-354329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–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727448" y="1212300"/>
            <a:ext cx="3959352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35433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•"/>
              <a:defRPr/>
            </a:lvl2pPr>
            <a:lvl3pPr marL="1371600" lvl="2" indent="-35433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–"/>
              <a:defRPr/>
            </a:lvl3pPr>
            <a:lvl4pPr marL="1828800" lvl="3" indent="-35433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•"/>
              <a:defRPr/>
            </a:lvl4pPr>
            <a:lvl5pPr marL="2286000" lvl="4" indent="-354329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–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 Column">
  <p:cSld name="3 Column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7"/>
          <p:cNvSpPr txBox="1">
            <a:spLocks noGrp="1"/>
          </p:cNvSpPr>
          <p:nvPr>
            <p:ph type="title"/>
          </p:nvPr>
        </p:nvSpPr>
        <p:spPr>
          <a:xfrm>
            <a:off x="457200" y="361950"/>
            <a:ext cx="82296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25908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35433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•"/>
              <a:defRPr/>
            </a:lvl2pPr>
            <a:lvl3pPr marL="1371600" lvl="2" indent="-35433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–"/>
              <a:defRPr/>
            </a:lvl3pPr>
            <a:lvl4pPr marL="1828800" lvl="3" indent="-35433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•"/>
              <a:defRPr/>
            </a:lvl4pPr>
            <a:lvl5pPr marL="2286000" lvl="4" indent="-354329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–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body" idx="2"/>
          </p:nvPr>
        </p:nvSpPr>
        <p:spPr>
          <a:xfrm>
            <a:off x="3276600" y="1200150"/>
            <a:ext cx="25908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35433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•"/>
              <a:defRPr/>
            </a:lvl2pPr>
            <a:lvl3pPr marL="1371600" lvl="2" indent="-35433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–"/>
              <a:defRPr/>
            </a:lvl3pPr>
            <a:lvl4pPr marL="1828800" lvl="3" indent="-35433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•"/>
              <a:defRPr/>
            </a:lvl4pPr>
            <a:lvl5pPr marL="2286000" lvl="4" indent="-354329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–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41" name="Google Shape;41;p7"/>
          <p:cNvSpPr txBox="1">
            <a:spLocks noGrp="1"/>
          </p:cNvSpPr>
          <p:nvPr>
            <p:ph type="body" idx="3"/>
          </p:nvPr>
        </p:nvSpPr>
        <p:spPr>
          <a:xfrm>
            <a:off x="6096000" y="1200150"/>
            <a:ext cx="25908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35433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•"/>
              <a:defRPr/>
            </a:lvl2pPr>
            <a:lvl3pPr marL="1371600" lvl="2" indent="-35433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–"/>
              <a:defRPr/>
            </a:lvl3pPr>
            <a:lvl4pPr marL="1828800" lvl="3" indent="-35433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•"/>
              <a:defRPr/>
            </a:lvl4pPr>
            <a:lvl5pPr marL="2286000" lvl="4" indent="-354329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–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 Column">
  <p:cSld name="4 Column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>
            <a:spLocks noGrp="1"/>
          </p:cNvSpPr>
          <p:nvPr>
            <p:ph type="title"/>
          </p:nvPr>
        </p:nvSpPr>
        <p:spPr>
          <a:xfrm>
            <a:off x="457200" y="361950"/>
            <a:ext cx="82296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19050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35433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•"/>
              <a:defRPr/>
            </a:lvl2pPr>
            <a:lvl3pPr marL="1371600" lvl="2" indent="-35433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–"/>
              <a:defRPr/>
            </a:lvl3pPr>
            <a:lvl4pPr marL="1828800" lvl="3" indent="-35433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•"/>
              <a:defRPr/>
            </a:lvl4pPr>
            <a:lvl5pPr marL="2286000" lvl="4" indent="-354329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–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45" name="Google Shape;45;p8"/>
          <p:cNvSpPr txBox="1">
            <a:spLocks noGrp="1"/>
          </p:cNvSpPr>
          <p:nvPr>
            <p:ph type="body" idx="2"/>
          </p:nvPr>
        </p:nvSpPr>
        <p:spPr>
          <a:xfrm>
            <a:off x="2565400" y="1200150"/>
            <a:ext cx="19050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35433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•"/>
              <a:defRPr/>
            </a:lvl2pPr>
            <a:lvl3pPr marL="1371600" lvl="2" indent="-35433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–"/>
              <a:defRPr/>
            </a:lvl3pPr>
            <a:lvl4pPr marL="1828800" lvl="3" indent="-35433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•"/>
              <a:defRPr/>
            </a:lvl4pPr>
            <a:lvl5pPr marL="2286000" lvl="4" indent="-354329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–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46" name="Google Shape;46;p8"/>
          <p:cNvSpPr txBox="1">
            <a:spLocks noGrp="1"/>
          </p:cNvSpPr>
          <p:nvPr>
            <p:ph type="body" idx="3"/>
          </p:nvPr>
        </p:nvSpPr>
        <p:spPr>
          <a:xfrm>
            <a:off x="4673600" y="1200150"/>
            <a:ext cx="19050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35433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•"/>
              <a:defRPr/>
            </a:lvl2pPr>
            <a:lvl3pPr marL="1371600" lvl="2" indent="-35433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–"/>
              <a:defRPr/>
            </a:lvl3pPr>
            <a:lvl4pPr marL="1828800" lvl="3" indent="-35433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•"/>
              <a:defRPr/>
            </a:lvl4pPr>
            <a:lvl5pPr marL="2286000" lvl="4" indent="-354329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–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47" name="Google Shape;47;p8"/>
          <p:cNvSpPr txBox="1">
            <a:spLocks noGrp="1"/>
          </p:cNvSpPr>
          <p:nvPr>
            <p:ph type="body" idx="4"/>
          </p:nvPr>
        </p:nvSpPr>
        <p:spPr>
          <a:xfrm>
            <a:off x="6781800" y="1200150"/>
            <a:ext cx="19050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35433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•"/>
              <a:defRPr/>
            </a:lvl2pPr>
            <a:lvl3pPr marL="1371600" lvl="2" indent="-35433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–"/>
              <a:defRPr/>
            </a:lvl3pPr>
            <a:lvl4pPr marL="1828800" lvl="3" indent="-35433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•"/>
              <a:defRPr/>
            </a:lvl4pPr>
            <a:lvl5pPr marL="2286000" lvl="4" indent="-354329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–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1" descr="_Plaid-Digital_FINAL-NEW.png"/>
          <p:cNvPicPr preferRelativeResize="0"/>
          <p:nvPr/>
        </p:nvPicPr>
        <p:blipFill rotWithShape="1">
          <a:blip r:embed="rId9">
            <a:alphaModFix/>
          </a:blip>
          <a:srcRect l="59550" t="20875" r="39888" b="2893"/>
          <a:stretch/>
        </p:blipFill>
        <p:spPr>
          <a:xfrm rot="5400000">
            <a:off x="3798887" y="1046163"/>
            <a:ext cx="60325" cy="7658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1;p1" descr="_Plaid-Digital_FINAL-NEW.png"/>
          <p:cNvPicPr preferRelativeResize="0"/>
          <p:nvPr/>
        </p:nvPicPr>
        <p:blipFill rotWithShape="1">
          <a:blip r:embed="rId9">
            <a:alphaModFix/>
          </a:blip>
          <a:srcRect l="59550" t="20875" r="39888" b="2893"/>
          <a:stretch/>
        </p:blipFill>
        <p:spPr>
          <a:xfrm rot="5400000">
            <a:off x="3798887" y="1046163"/>
            <a:ext cx="60325" cy="76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1"/>
          <p:cNvSpPr txBox="1">
            <a:spLocks noGrp="1"/>
          </p:cNvSpPr>
          <p:nvPr>
            <p:ph type="title"/>
          </p:nvPr>
        </p:nvSpPr>
        <p:spPr>
          <a:xfrm>
            <a:off x="457200" y="361950"/>
            <a:ext cx="82296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200" b="0" i="0" u="none" strike="noStrike" cap="none">
                <a:solidFill>
                  <a:schemeClr val="dk2"/>
                </a:solidFill>
                <a:latin typeface="Times"/>
                <a:ea typeface="Times"/>
                <a:cs typeface="Times"/>
                <a:sym typeface="Time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200" b="0" i="0" u="none" strike="noStrike" cap="none">
                <a:solidFill>
                  <a:schemeClr val="dk2"/>
                </a:solidFill>
                <a:latin typeface="Times"/>
                <a:ea typeface="Times"/>
                <a:cs typeface="Times"/>
                <a:sym typeface="Time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200" b="0" i="0" u="none" strike="noStrike" cap="none">
                <a:solidFill>
                  <a:schemeClr val="dk2"/>
                </a:solidFill>
                <a:latin typeface="Times"/>
                <a:ea typeface="Times"/>
                <a:cs typeface="Times"/>
                <a:sym typeface="Time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200" b="0" i="0" u="none" strike="noStrike" cap="none">
                <a:solidFill>
                  <a:schemeClr val="dk2"/>
                </a:solidFill>
                <a:latin typeface="Times"/>
                <a:ea typeface="Times"/>
                <a:cs typeface="Times"/>
                <a:sym typeface="Times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50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60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32639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54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26389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540"/>
              <a:buFont typeface="Arial"/>
              <a:buChar char="–"/>
              <a:defRPr sz="1400" b="0" i="1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26389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54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26389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540"/>
              <a:buFont typeface="Arial"/>
              <a:buChar char="–"/>
              <a:defRPr sz="1400" b="0" i="1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14" name="Google Shape;14;p1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7772400" y="4248150"/>
            <a:ext cx="1154590" cy="736392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1"/>
          <p:cNvSpPr txBox="1">
            <a:spLocks noGrp="1"/>
          </p:cNvSpPr>
          <p:nvPr>
            <p:ph type="sldNum" idx="12"/>
          </p:nvPr>
        </p:nvSpPr>
        <p:spPr>
          <a:xfrm>
            <a:off x="11073918" y="6400413"/>
            <a:ext cx="279883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" name="Google Shape;16;p1"/>
          <p:cNvSpPr txBox="1"/>
          <p:nvPr/>
        </p:nvSpPr>
        <p:spPr>
          <a:xfrm>
            <a:off x="11226318" y="6552813"/>
            <a:ext cx="279883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88888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‹#›</a:t>
            </a:fld>
            <a:endParaRPr sz="1200" b="0" i="0" u="none" strike="noStrike" cap="none">
              <a:solidFill>
                <a:srgbClr val="888888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17" name="Google Shape;17;p1"/>
          <p:cNvSpPr txBox="1"/>
          <p:nvPr/>
        </p:nvSpPr>
        <p:spPr>
          <a:xfrm>
            <a:off x="11378718" y="6705213"/>
            <a:ext cx="279883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88888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‹#›</a:t>
            </a:fld>
            <a:endParaRPr sz="1200" b="0" i="0" u="none" strike="noStrike" cap="none">
              <a:solidFill>
                <a:srgbClr val="888888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18" name="Google Shape;18;p1"/>
          <p:cNvSpPr txBox="1"/>
          <p:nvPr/>
        </p:nvSpPr>
        <p:spPr>
          <a:xfrm>
            <a:off x="11531118" y="6857613"/>
            <a:ext cx="279883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88888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‹#›</a:t>
            </a:fld>
            <a:endParaRPr sz="1200" b="0" i="0" u="none" strike="noStrike" cap="none">
              <a:solidFill>
                <a:srgbClr val="888888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19" name="Google Shape;19;p1"/>
          <p:cNvSpPr txBox="1"/>
          <p:nvPr/>
        </p:nvSpPr>
        <p:spPr>
          <a:xfrm>
            <a:off x="8534400" y="100340"/>
            <a:ext cx="506890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100" b="0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‹#›</a:t>
            </a:fld>
            <a:endParaRPr sz="1100" b="0" i="0" u="none" strike="noStrike" cap="none">
              <a:solidFill>
                <a:srgbClr val="7F7F7F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3" name="Google Shape;53;p9"/>
          <p:cNvCxnSpPr/>
          <p:nvPr/>
        </p:nvCxnSpPr>
        <p:spPr>
          <a:xfrm>
            <a:off x="2209800" y="3486150"/>
            <a:ext cx="5486400" cy="0"/>
          </a:xfrm>
          <a:prstGeom prst="straightConnector1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4" name="Google Shape;54;p9"/>
          <p:cNvSpPr txBox="1"/>
          <p:nvPr/>
        </p:nvSpPr>
        <p:spPr>
          <a:xfrm>
            <a:off x="2133600" y="2038350"/>
            <a:ext cx="67980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175" lvl="0" indent="-317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0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Computational Foundations for ML (10-607):</a:t>
            </a:r>
            <a:endParaRPr sz="20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3175" marR="0" lvl="0" indent="-3175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Proof Techniques</a:t>
            </a:r>
            <a:endParaRPr sz="36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3175" marR="0" lvl="0" indent="-3175" algn="l" rtl="0">
              <a:spcBef>
                <a:spcPts val="0"/>
              </a:spcBef>
              <a:spcAft>
                <a:spcPts val="0"/>
              </a:spcAft>
              <a:buNone/>
            </a:pPr>
            <a:endParaRPr sz="36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5" name="Google Shape;55;p9"/>
          <p:cNvSpPr txBox="1"/>
          <p:nvPr/>
        </p:nvSpPr>
        <p:spPr>
          <a:xfrm>
            <a:off x="2133600" y="3638550"/>
            <a:ext cx="52578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175" marR="0" lvl="0" indent="-3175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Bryan Wilder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457200" y="361950"/>
            <a:ext cx="8229600" cy="609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Lecture Overview</a:t>
            </a:r>
            <a:endParaRPr/>
          </a:p>
        </p:txBody>
      </p:sp>
      <p:sp>
        <p:nvSpPr>
          <p:cNvPr id="63" name="Google Shape;63;p10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429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39700" lvl="0" indent="0" algn="l" rtl="0">
              <a:spcBef>
                <a:spcPts val="600"/>
              </a:spcBef>
              <a:spcAft>
                <a:spcPts val="0"/>
              </a:spcAft>
              <a:buSzPts val="1400"/>
            </a:pPr>
            <a:r>
              <a:rPr lang="en-US" dirty="0"/>
              <a:t>Today:</a:t>
            </a:r>
          </a:p>
          <a:p>
            <a:pPr marL="457200" lvl="0" indent="-317500" algn="l" rtl="0">
              <a:spcBef>
                <a:spcPts val="600"/>
              </a:spcBef>
              <a:spcAft>
                <a:spcPts val="0"/>
              </a:spcAft>
              <a:buSzPts val="1400"/>
              <a:buChar char="●"/>
            </a:pPr>
            <a:r>
              <a:rPr lang="en-US" dirty="0"/>
              <a:t>Proof by </a:t>
            </a:r>
            <a:r>
              <a:rPr lang="en-US" b="1" dirty="0"/>
              <a:t>Construction</a:t>
            </a:r>
            <a:endParaRPr b="1" dirty="0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 dirty="0"/>
              <a:t>Proof by </a:t>
            </a:r>
            <a:r>
              <a:rPr lang="en-US" b="1" dirty="0"/>
              <a:t>Cases</a:t>
            </a:r>
          </a:p>
          <a:p>
            <a:pPr indent="-317500">
              <a:spcBef>
                <a:spcPts val="0"/>
              </a:spcBef>
              <a:buFont typeface="Arial"/>
              <a:buChar char="●"/>
            </a:pPr>
            <a:r>
              <a:rPr lang="en-US" dirty="0"/>
              <a:t>Disproof</a:t>
            </a:r>
            <a:r>
              <a:rPr lang="en-US" b="1" dirty="0"/>
              <a:t> </a:t>
            </a:r>
            <a:r>
              <a:rPr lang="en-US" dirty="0"/>
              <a:t>by</a:t>
            </a:r>
            <a:r>
              <a:rPr lang="en-US" b="1" dirty="0"/>
              <a:t> Example</a:t>
            </a:r>
          </a:p>
          <a:p>
            <a:pPr marL="139700" lvl="0" indent="0" algn="l" rtl="0">
              <a:spcBef>
                <a:spcPts val="0"/>
              </a:spcBef>
              <a:spcAft>
                <a:spcPts val="0"/>
              </a:spcAft>
              <a:buSzPts val="1400"/>
            </a:pPr>
            <a:endParaRPr lang="en-US" b="1" dirty="0"/>
          </a:p>
          <a:p>
            <a:pPr marL="139700" lvl="0" indent="0" algn="l" rtl="0">
              <a:spcBef>
                <a:spcPts val="0"/>
              </a:spcBef>
              <a:spcAft>
                <a:spcPts val="0"/>
              </a:spcAft>
              <a:buSzPts val="1400"/>
            </a:pPr>
            <a:r>
              <a:rPr lang="en-US" dirty="0"/>
              <a:t>Next week:</a:t>
            </a:r>
            <a:endParaRPr dirty="0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 dirty="0"/>
              <a:t>Proof by </a:t>
            </a:r>
            <a:r>
              <a:rPr lang="en-US" b="1" dirty="0"/>
              <a:t>Contradiction</a:t>
            </a:r>
            <a:endParaRPr b="1" dirty="0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 dirty="0"/>
              <a:t>Proof by </a:t>
            </a:r>
            <a:r>
              <a:rPr lang="en-US" b="1" dirty="0"/>
              <a:t>Contraposition</a:t>
            </a: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 dirty="0"/>
              <a:t>Proof by </a:t>
            </a:r>
            <a:r>
              <a:rPr lang="en-US" b="1" dirty="0"/>
              <a:t>Induction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361950"/>
            <a:ext cx="8229600" cy="609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Proof by Construction</a:t>
            </a:r>
            <a:endParaRPr dirty="0"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429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dirty="0"/>
              <a:t>Also called a “direct proof”: establish P ⇒ Q directly.</a:t>
            </a:r>
            <a:endParaRPr dirty="0"/>
          </a:p>
          <a:p>
            <a:pPr marL="457200" lvl="0" indent="-317500" algn="l" rtl="0">
              <a:spcBef>
                <a:spcPts val="600"/>
              </a:spcBef>
              <a:spcAft>
                <a:spcPts val="0"/>
              </a:spcAft>
              <a:buSzPts val="1400"/>
              <a:buChar char="●"/>
            </a:pPr>
            <a:r>
              <a:rPr lang="en-US" dirty="0"/>
              <a:t>Assume that P is true.</a:t>
            </a:r>
            <a:endParaRPr dirty="0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 dirty="0"/>
              <a:t>Use P to show that Q must be true.</a:t>
            </a:r>
            <a:endParaRPr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71" name="Google Shape;71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85007" y="2300626"/>
            <a:ext cx="2774001" cy="15775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742468-661D-4F35-E0BF-388D7983BB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Proof by Construction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5135AA45-614D-4F7D-2C34-293BFF50AC01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sz="2000" dirty="0"/>
                  <a:t>A common statement to prove is of the form </a:t>
                </a:r>
              </a:p>
              <a:p>
                <a:r>
                  <a:rPr lang="en-US" sz="2000" dirty="0"/>
                  <a:t>“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” </a:t>
                </a:r>
              </a:p>
              <a:p>
                <a:r>
                  <a:rPr lang="en-US" sz="2000" dirty="0"/>
                  <a:t>where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sz="2000" dirty="0"/>
                  <a:t> and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US" sz="2000" dirty="0"/>
                  <a:t> are predicates and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𝑈</m:t>
                    </m:r>
                  </m:oMath>
                </a14:m>
                <a:r>
                  <a:rPr lang="en-US" sz="2000" dirty="0"/>
                  <a:t> is a set</a:t>
                </a:r>
              </a:p>
              <a:p>
                <a:endParaRPr lang="en-US" sz="2000" dirty="0"/>
              </a:p>
              <a:p>
                <a:r>
                  <a:rPr lang="en-US" sz="2000" dirty="0"/>
                  <a:t>Proof by construction: Consider an arbitrary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𝑈</m:t>
                    </m:r>
                  </m:oMath>
                </a14:m>
                <a:r>
                  <a:rPr lang="en-US" sz="2000" dirty="0"/>
                  <a:t> for which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 holds -- arbitrary meaning that we do not know anything about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000" dirty="0"/>
                  <a:t> besides that it satisfies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sz="2000" dirty="0"/>
                  <a:t>. Using those characteristics, show that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 must be true.</a:t>
                </a:r>
              </a:p>
              <a:p>
                <a:endParaRPr lang="en-US" sz="2000" dirty="0"/>
              </a:p>
              <a:p>
                <a:endParaRPr lang="en-US" sz="2000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5135AA45-614D-4F7D-2C34-293BFF50AC0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474461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B2D24A-24F2-76D7-DCE4-691B1F9D96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Setting: proving things about integers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53051E4-EA6F-57B7-1A33-E9E2CE7040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257" y="971550"/>
            <a:ext cx="7772400" cy="3198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90395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2"/>
          <p:cNvSpPr txBox="1">
            <a:spLocks noGrp="1"/>
          </p:cNvSpPr>
          <p:nvPr>
            <p:ph type="title"/>
          </p:nvPr>
        </p:nvSpPr>
        <p:spPr>
          <a:xfrm>
            <a:off x="457200" y="361950"/>
            <a:ext cx="8229600" cy="609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Proof by construction</a:t>
            </a:r>
            <a:endParaRPr dirty="0"/>
          </a:p>
        </p:txBody>
      </p:sp>
      <p:sp>
        <p:nvSpPr>
          <p:cNvPr id="78" name="Google Shape;78;p12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7998031" cy="3429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800" b="1" dirty="0"/>
              <a:t>Example:</a:t>
            </a:r>
            <a:r>
              <a:rPr lang="en-US" sz="1800" dirty="0"/>
              <a:t> If a, b ∈ Z are consecutive (i.e., b = a+1), then the sum a + b is odd.</a:t>
            </a: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lang="en-US" sz="1800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800" b="1" dirty="0"/>
              <a:t>Definition 1</a:t>
            </a:r>
            <a:r>
              <a:rPr lang="en-US" sz="1800" dirty="0"/>
              <a:t>: An integer a is </a:t>
            </a:r>
            <a:r>
              <a:rPr lang="en-US" sz="1800" i="1" dirty="0"/>
              <a:t>odd</a:t>
            </a:r>
            <a:r>
              <a:rPr lang="en-US" sz="1800" dirty="0"/>
              <a:t> if there exists another integer k such that a = 2k + 1. </a:t>
            </a: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lang="en-US" sz="1800" dirty="0"/>
          </a:p>
          <a:p>
            <a:pPr marL="0" indent="0"/>
            <a:r>
              <a:rPr lang="en-US" sz="1800" b="1" dirty="0"/>
              <a:t>Definition 2</a:t>
            </a:r>
            <a:r>
              <a:rPr lang="en-US" sz="1800" dirty="0"/>
              <a:t>: An integer a is </a:t>
            </a:r>
            <a:r>
              <a:rPr lang="en-US" sz="1800" i="1" dirty="0"/>
              <a:t>even</a:t>
            </a:r>
            <a:r>
              <a:rPr lang="en-US" sz="1800" dirty="0"/>
              <a:t> if there exists another integer k such that a = 2k. </a:t>
            </a: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1800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5641AF-DC15-2FC7-FC21-932DA3AF28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Proof by construction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7F7303-111E-4F00-FEB3-EE0C5B18BB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800" b="1" dirty="0"/>
              <a:t>Example:</a:t>
            </a:r>
            <a:r>
              <a:rPr lang="en-US" sz="1800" dirty="0"/>
              <a:t>  Let </a:t>
            </a:r>
            <a:r>
              <a:rPr lang="en-US" sz="1800" dirty="0" err="1"/>
              <a:t>a,b</a:t>
            </a:r>
            <a:r>
              <a:rPr lang="en-US" sz="1800" dirty="0"/>
              <a:t> and c be integers. If a | b and b | c, then a | c.</a:t>
            </a:r>
          </a:p>
          <a:p>
            <a:endParaRPr lang="en-US" sz="1800" b="1" dirty="0"/>
          </a:p>
          <a:p>
            <a:r>
              <a:rPr lang="en-US" sz="1800" b="1" dirty="0"/>
              <a:t>Definition 3: </a:t>
            </a:r>
            <a:r>
              <a:rPr lang="en-US" sz="1800" dirty="0"/>
              <a:t>a | b means “b is divisible by a”, i.e., there exists an integer k such that b = </a:t>
            </a:r>
            <a:r>
              <a:rPr lang="en-US" sz="1800" dirty="0" err="1"/>
              <a:t>ak</a:t>
            </a:r>
            <a:r>
              <a:rPr lang="en-US" sz="1800" dirty="0"/>
              <a:t>.</a:t>
            </a:r>
          </a:p>
          <a:p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519335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118F6A-1D41-012B-18EF-570F184AF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Proof by construction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C4911575-C2A8-6A96-B923-724D28356126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algn="l"/>
                <a:r>
                  <a:rPr lang="en-US" sz="2000" i="0" dirty="0">
                    <a:solidFill>
                      <a:srgbClr val="000000"/>
                    </a:solidFill>
                    <a:effectLst/>
                    <a:latin typeface="Open Sans" panose="020B0606030504020204" pitchFamily="34" charset="0"/>
                  </a:rPr>
                  <a:t>Prove or disprove: there exists a positive integer 𝑛 such that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sz="2000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000" b="0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+3</m:t>
                    </m:r>
                    <m:r>
                      <a:rPr lang="en-US" sz="2000" b="0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000" b="0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+2</m:t>
                    </m:r>
                  </m:oMath>
                </a14:m>
                <a:r>
                  <a:rPr lang="en-US" sz="2000" i="0" dirty="0">
                    <a:solidFill>
                      <a:srgbClr val="000000"/>
                    </a:solidFill>
                    <a:effectLst/>
                    <a:latin typeface="Open Sans" panose="020B0606030504020204" pitchFamily="34" charset="0"/>
                  </a:rPr>
                  <a:t> is prime.</a:t>
                </a:r>
              </a:p>
              <a:p>
                <a:pPr algn="l"/>
                <a:endParaRPr lang="en-US" sz="2000" dirty="0">
                  <a:solidFill>
                    <a:srgbClr val="000000"/>
                  </a:solidFill>
                  <a:latin typeface="Open Sans" panose="020B0606030504020204" pitchFamily="34" charset="0"/>
                </a:endParaRPr>
              </a:p>
              <a:p>
                <a:pPr algn="l"/>
                <a:r>
                  <a:rPr lang="en-US" sz="2000" b="1" i="0" dirty="0">
                    <a:solidFill>
                      <a:srgbClr val="000000"/>
                    </a:solidFill>
                    <a:effectLst/>
                    <a:latin typeface="Open Sans" panose="020B0606030504020204" pitchFamily="34" charset="0"/>
                  </a:rPr>
                  <a:t>Definition 4: </a:t>
                </a:r>
                <a:r>
                  <a:rPr lang="en-US" sz="2000" i="0" dirty="0">
                    <a:solidFill>
                      <a:srgbClr val="000000"/>
                    </a:solidFill>
                    <a:effectLst/>
                    <a:latin typeface="Open Sans" panose="020B0606030504020204" pitchFamily="34" charset="0"/>
                  </a:rPr>
                  <a:t>An integer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000" b="1" i="0" dirty="0">
                    <a:solidFill>
                      <a:srgbClr val="000000"/>
                    </a:solidFill>
                    <a:effectLst/>
                    <a:latin typeface="Open Sans" panose="020B0606030504020204" pitchFamily="34" charset="0"/>
                  </a:rPr>
                  <a:t> </a:t>
                </a:r>
                <a:r>
                  <a:rPr lang="en-US" sz="2000" dirty="0">
                    <a:solidFill>
                      <a:srgbClr val="000000"/>
                    </a:solidFill>
                    <a:effectLst/>
                    <a:latin typeface="Open Sans" panose="020B0606030504020204" pitchFamily="34" charset="0"/>
                  </a:rPr>
                  <a:t>is</a:t>
                </a:r>
                <a:r>
                  <a:rPr lang="en-US" sz="2000" i="1" dirty="0">
                    <a:solidFill>
                      <a:srgbClr val="000000"/>
                    </a:solidFill>
                    <a:effectLst/>
                    <a:latin typeface="Open Sans" panose="020B0606030504020204" pitchFamily="34" charset="0"/>
                  </a:rPr>
                  <a:t> prime </a:t>
                </a:r>
                <a:r>
                  <a:rPr lang="en-US" sz="2000" dirty="0">
                    <a:solidFill>
                      <a:srgbClr val="000000"/>
                    </a:solidFill>
                    <a:effectLst/>
                    <a:latin typeface="Open Sans" panose="020B0606030504020204" pitchFamily="34" charset="0"/>
                  </a:rPr>
                  <a:t>if for all integers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2000" b="0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000" b="0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2000" b="0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000" b="0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𝑍</m:t>
                    </m:r>
                  </m:oMath>
                </a14:m>
                <a:r>
                  <a:rPr lang="en-US" sz="2000" i="1" dirty="0">
                    <a:solidFill>
                      <a:srgbClr val="000000"/>
                    </a:solidFill>
                    <a:effectLst/>
                    <a:latin typeface="Open Sans" panose="020B0606030504020204" pitchFamily="34" charset="0"/>
                  </a:rPr>
                  <a:t>, </a:t>
                </a:r>
                <a:r>
                  <a:rPr lang="en-US" sz="2000" dirty="0">
                    <a:solidFill>
                      <a:srgbClr val="000000"/>
                    </a:solidFill>
                    <a:latin typeface="Open Sans" panose="020B0606030504020204" pitchFamily="34" charset="0"/>
                  </a:rPr>
                  <a:t>if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0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𝑟𝑠</m:t>
                    </m:r>
                  </m:oMath>
                </a14:m>
                <a:r>
                  <a:rPr lang="en-US" sz="2000" i="1" dirty="0">
                    <a:solidFill>
                      <a:srgbClr val="000000"/>
                    </a:solidFill>
                    <a:effectLst/>
                    <a:latin typeface="Open Sans" panose="020B0606030504020204" pitchFamily="34" charset="0"/>
                  </a:rPr>
                  <a:t>, </a:t>
                </a:r>
                <a:r>
                  <a:rPr lang="en-US" sz="2000" dirty="0">
                    <a:solidFill>
                      <a:srgbClr val="000000"/>
                    </a:solidFill>
                    <a:effectLst/>
                    <a:latin typeface="Open Sans" panose="020B0606030504020204" pitchFamily="34" charset="0"/>
                  </a:rPr>
                  <a:t>then either </a:t>
                </a:r>
                <a:r>
                  <a:rPr lang="en-US" sz="2000" i="1" dirty="0">
                    <a:solidFill>
                      <a:srgbClr val="000000"/>
                    </a:solidFill>
                    <a:effectLst/>
                    <a:latin typeface="Open Sans" panose="020B0606030504020204" pitchFamily="34" charset="0"/>
                  </a:rPr>
                  <a:t>r =</a:t>
                </a:r>
                <a:r>
                  <a:rPr lang="en-US" sz="2000" dirty="0">
                    <a:solidFill>
                      <a:srgbClr val="000000"/>
                    </a:solidFill>
                    <a:effectLst/>
                    <a:latin typeface="Open Sans" panose="020B0606030504020204" pitchFamily="34" charset="0"/>
                  </a:rPr>
                  <a:t> 1 or</a:t>
                </a:r>
                <a:r>
                  <a:rPr lang="en-US" sz="2000" i="1" dirty="0">
                    <a:solidFill>
                      <a:srgbClr val="000000"/>
                    </a:solidFill>
                    <a:effectLst/>
                    <a:latin typeface="Open Sans" panose="020B0606030504020204" pitchFamily="34" charset="0"/>
                  </a:rPr>
                  <a:t> s </a:t>
                </a:r>
                <a:r>
                  <a:rPr lang="en-US" sz="2000" dirty="0">
                    <a:solidFill>
                      <a:srgbClr val="000000"/>
                    </a:solidFill>
                    <a:effectLst/>
                    <a:latin typeface="Open Sans" panose="020B0606030504020204" pitchFamily="34" charset="0"/>
                  </a:rPr>
                  <a:t>= 1. </a:t>
                </a:r>
              </a:p>
              <a:p>
                <a:br>
                  <a:rPr lang="en-US" dirty="0"/>
                </a:br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C4911575-C2A8-6A96-B923-724D2835612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639872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ACB58C-A9A2-9CF8-5FC9-B50D9557B5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 mistakes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4FC93C-6049-24DA-B727-09A2AD0324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514350" indent="-285750">
              <a:buFont typeface="Arial" panose="020B0604020202020204" pitchFamily="34" charset="0"/>
              <a:buChar char="•"/>
            </a:pPr>
            <a:r>
              <a:rPr lang="en-US" sz="1800" dirty="0"/>
              <a:t>Proving only a specific example</a:t>
            </a:r>
          </a:p>
          <a:p>
            <a:pPr marL="514350" indent="-285750">
              <a:buFont typeface="Arial" panose="020B0604020202020204" pitchFamily="34" charset="0"/>
              <a:buChar char="•"/>
            </a:pPr>
            <a:r>
              <a:rPr lang="en-US" sz="1800" dirty="0"/>
              <a:t>Proving the wrong direction</a:t>
            </a:r>
          </a:p>
          <a:p>
            <a:pPr marL="514350" indent="-285750">
              <a:buFont typeface="Arial" panose="020B0604020202020204" pitchFamily="34" charset="0"/>
              <a:buChar char="•"/>
            </a:pPr>
            <a:r>
              <a:rPr lang="en-US" sz="1800" dirty="0"/>
              <a:t>Not being precise: about definitions, types/dimensions of objects, what various symbols refer to, …</a:t>
            </a:r>
          </a:p>
          <a:p>
            <a:pPr marL="514350" indent="-285750">
              <a:buFont typeface="Arial" panose="020B0604020202020204" pitchFamily="34" charset="0"/>
              <a:buChar char="•"/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1075205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751F15-87AE-DFBE-E68C-AA9DDA3304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 mistakes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97EB82-2170-A3FC-560E-8D548F6EB5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093272"/>
            <a:ext cx="8229600" cy="3429000"/>
          </a:xfrm>
        </p:spPr>
        <p:txBody>
          <a:bodyPr/>
          <a:lstStyle/>
          <a:p>
            <a:r>
              <a:rPr lang="en-US" sz="1800" dirty="0"/>
              <a:t>What is wrong with the following “proof”?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919F588-BCF9-1BA2-408A-842270908A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605756"/>
            <a:ext cx="7772400" cy="2617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14112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>
            <a:spLocks noGrp="1"/>
          </p:cNvSpPr>
          <p:nvPr>
            <p:ph type="title"/>
          </p:nvPr>
        </p:nvSpPr>
        <p:spPr>
          <a:xfrm>
            <a:off x="457200" y="361950"/>
            <a:ext cx="8229600" cy="609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Proof by Cases</a:t>
            </a:r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5" name="Google Shape;85;p13"/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457200" y="1200150"/>
                <a:ext cx="8229600" cy="3429000"/>
              </a:xfrm>
              <a:prstGeom prst="rect">
                <a:avLst/>
              </a:prstGeom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139700" lvl="0" indent="0" algn="l" rtl="0">
                  <a:spcBef>
                    <a:spcPts val="600"/>
                  </a:spcBef>
                  <a:spcAft>
                    <a:spcPts val="0"/>
                  </a:spcAft>
                  <a:buSzPts val="1400"/>
                </a:pPr>
                <a14:m>
                  <m:oMathPara xmlns:m="http://schemas.openxmlformats.org/officeDocument/2006/math">
                    <m:oMath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∀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/>
              </a:p>
              <a:p>
                <a:pPr marL="139700" lvl="0" indent="0" algn="l" rtl="0">
                  <a:spcBef>
                    <a:spcPts val="600"/>
                  </a:spcBef>
                  <a:spcAft>
                    <a:spcPts val="0"/>
                  </a:spcAft>
                  <a:buSzPts val="1400"/>
                </a:pPr>
                <a:endParaRPr lang="en-US" sz="2000" dirty="0"/>
              </a:p>
              <a:p>
                <a:pPr marL="139700" lvl="0" indent="0" algn="l" rtl="0">
                  <a:spcBef>
                    <a:spcPts val="600"/>
                  </a:spcBef>
                  <a:spcAft>
                    <a:spcPts val="0"/>
                  </a:spcAft>
                  <a:buSzPts val="1400"/>
                </a:pPr>
                <a:r>
                  <a:rPr lang="en-US" sz="2000" dirty="0"/>
                  <a:t>Sometimes, direct proof is difficult: no single line of reasoning works for every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𝑈</m:t>
                    </m:r>
                  </m:oMath>
                </a14:m>
                <a:r>
                  <a:rPr lang="en-US" sz="2000" dirty="0"/>
                  <a:t>. Proof by cases breaks things up into:</a:t>
                </a:r>
              </a:p>
              <a:p>
                <a:pPr marL="139700" lvl="0" indent="0" algn="l" rtl="0">
                  <a:spcBef>
                    <a:spcPts val="600"/>
                  </a:spcBef>
                  <a:spcAft>
                    <a:spcPts val="0"/>
                  </a:spcAft>
                  <a:buSzPts val="1400"/>
                </a:pPr>
                <a:endParaRPr lang="en-US" sz="2000" dirty="0"/>
              </a:p>
              <a:p>
                <a:pPr marL="457200" lvl="0" indent="-317500" algn="l" rtl="0">
                  <a:spcBef>
                    <a:spcPts val="600"/>
                  </a:spcBef>
                  <a:spcAft>
                    <a:spcPts val="0"/>
                  </a:spcAft>
                  <a:buSzPts val="1400"/>
                  <a:buChar char="●"/>
                </a:pPr>
                <a:r>
                  <a:rPr lang="en-US" sz="2000" dirty="0"/>
                  <a:t>A proof that the set of cases is exhaustive.</a:t>
                </a:r>
              </a:p>
              <a:p>
                <a:pPr marL="457200" lvl="0" indent="-317500" algn="l" rtl="0">
                  <a:spcBef>
                    <a:spcPts val="0"/>
                  </a:spcBef>
                  <a:spcAft>
                    <a:spcPts val="0"/>
                  </a:spcAft>
                  <a:buSzPts val="1400"/>
                  <a:buChar char="●"/>
                </a:pPr>
                <a:r>
                  <a:rPr lang="en-US" sz="2000" dirty="0"/>
                  <a:t>A proof of each of the cases.</a:t>
                </a:r>
              </a:p>
              <a:p>
                <a:pPr marL="0" lvl="0" indent="0" algn="l" rtl="0">
                  <a:spcBef>
                    <a:spcPts val="600"/>
                  </a:spcBef>
                  <a:spcAft>
                    <a:spcPts val="0"/>
                  </a:spcAft>
                  <a:buNone/>
                </a:pPr>
                <a:endParaRPr sz="2000" dirty="0"/>
              </a:p>
            </p:txBody>
          </p:sp>
        </mc:Choice>
        <mc:Fallback xmlns="">
          <p:sp>
            <p:nvSpPr>
              <p:cNvPr id="85" name="Google Shape;85;p13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7200" y="1200150"/>
                <a:ext cx="8229600" cy="34290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>
            <a:spLocks noGrp="1"/>
          </p:cNvSpPr>
          <p:nvPr>
            <p:ph type="title"/>
          </p:nvPr>
        </p:nvSpPr>
        <p:spPr>
          <a:xfrm>
            <a:off x="457200" y="361950"/>
            <a:ext cx="8229600" cy="609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Proof by Cases</a:t>
            </a:r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5" name="Google Shape;85;p13"/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457200" y="1200150"/>
                <a:ext cx="8229600" cy="3429000"/>
              </a:xfrm>
              <a:prstGeom prst="rect">
                <a:avLst/>
              </a:prstGeom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139700" lvl="0" indent="0" algn="l" rtl="0">
                  <a:spcBef>
                    <a:spcPts val="600"/>
                  </a:spcBef>
                  <a:spcAft>
                    <a:spcPts val="0"/>
                  </a:spcAft>
                  <a:buSzPts val="1400"/>
                </a:pPr>
                <a14:m>
                  <m:oMathPara xmlns:m="http://schemas.openxmlformats.org/officeDocument/2006/math">
                    <m:oMath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∀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000" dirty="0"/>
              </a:p>
              <a:p>
                <a:pPr marL="139700" lvl="0" indent="0" algn="l" rtl="0">
                  <a:spcBef>
                    <a:spcPts val="600"/>
                  </a:spcBef>
                  <a:spcAft>
                    <a:spcPts val="0"/>
                  </a:spcAft>
                  <a:buSzPts val="1400"/>
                </a:pPr>
                <a:r>
                  <a:rPr lang="en-US" sz="2000" dirty="0"/>
                  <a:t>Cases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…, 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⊆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𝑈</m:t>
                    </m:r>
                  </m:oMath>
                </a14:m>
                <a:endParaRPr lang="en-US" sz="2000" dirty="0"/>
              </a:p>
              <a:p>
                <a:pPr marL="139700" lvl="0" indent="0" algn="l" rtl="0">
                  <a:spcBef>
                    <a:spcPts val="600"/>
                  </a:spcBef>
                  <a:spcAft>
                    <a:spcPts val="0"/>
                  </a:spcAft>
                  <a:buSzPts val="1400"/>
                </a:pPr>
                <a:r>
                  <a:rPr lang="en-US" sz="2000" dirty="0"/>
                  <a:t>Part 1: Prove that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∈</m:t>
                    </m:r>
                    <m:nary>
                      <m:naryPr>
                        <m:chr m:val="⋃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  <m:e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r>
                  <a:rPr lang="en-US" sz="2000" dirty="0"/>
                  <a:t> </a:t>
                </a:r>
              </a:p>
              <a:p>
                <a:pPr marL="139700" lvl="0" indent="0" algn="l" rtl="0">
                  <a:spcBef>
                    <a:spcPts val="600"/>
                  </a:spcBef>
                  <a:spcAft>
                    <a:spcPts val="0"/>
                  </a:spcAft>
                  <a:buSzPts val="1400"/>
                </a:pPr>
                <a:r>
                  <a:rPr lang="en-US" sz="2000" dirty="0"/>
                  <a:t>(every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000" dirty="0"/>
                  <a:t> satisfying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sz="2000" dirty="0"/>
                  <a:t> belongs to one of the cases)</a:t>
                </a:r>
              </a:p>
              <a:p>
                <a:pPr marL="139700" lvl="0" indent="0" algn="l" rtl="0">
                  <a:spcBef>
                    <a:spcPts val="600"/>
                  </a:spcBef>
                  <a:spcAft>
                    <a:spcPts val="0"/>
                  </a:spcAft>
                  <a:buSzPts val="1400"/>
                </a:pPr>
                <a:endParaRPr lang="en-US" sz="2000" dirty="0"/>
              </a:p>
              <a:p>
                <a:pPr marL="139700" lvl="0" indent="0" algn="l" rtl="0">
                  <a:spcBef>
                    <a:spcPts val="600"/>
                  </a:spcBef>
                  <a:spcAft>
                    <a:spcPts val="0"/>
                  </a:spcAft>
                  <a:buSzPts val="1400"/>
                </a:pPr>
                <a:r>
                  <a:rPr lang="en-US" sz="2000" dirty="0"/>
                  <a:t>Part 2: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∧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𝑄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000" dirty="0"/>
              </a:p>
              <a:p>
                <a:pPr marL="139700" lvl="0" indent="0" algn="l" rtl="0">
                  <a:spcBef>
                    <a:spcPts val="600"/>
                  </a:spcBef>
                  <a:spcAft>
                    <a:spcPts val="0"/>
                  </a:spcAft>
                  <a:buSzPts val="1400"/>
                </a:pPr>
                <a:endParaRPr lang="en-US" sz="2000" dirty="0"/>
              </a:p>
              <a:p>
                <a:pPr marL="0" indent="0"/>
                <a:r>
                  <a:rPr lang="en-US" sz="2000" dirty="0"/>
                  <a:t>  Part 3: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∧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𝑄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000" dirty="0"/>
              </a:p>
              <a:p>
                <a:pPr marL="0" indent="0"/>
                <a:r>
                  <a:rPr lang="en-US" sz="2000" dirty="0"/>
                  <a:t>  …</a:t>
                </a:r>
              </a:p>
              <a:p>
                <a:pPr marL="0" lvl="0" indent="0" algn="l" rtl="0">
                  <a:spcBef>
                    <a:spcPts val="600"/>
                  </a:spcBef>
                  <a:spcAft>
                    <a:spcPts val="0"/>
                  </a:spcAft>
                  <a:buNone/>
                </a:pPr>
                <a:endParaRPr sz="2000" dirty="0"/>
              </a:p>
            </p:txBody>
          </p:sp>
        </mc:Choice>
        <mc:Fallback xmlns="">
          <p:sp>
            <p:nvSpPr>
              <p:cNvPr id="85" name="Google Shape;85;p13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7200" y="1200150"/>
                <a:ext cx="8229600" cy="3429000"/>
              </a:xfrm>
              <a:prstGeom prst="rect">
                <a:avLst/>
              </a:prstGeom>
              <a:blipFill>
                <a:blip r:embed="rId3"/>
                <a:stretch>
                  <a:fillRect b="-55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215104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4"/>
          <p:cNvSpPr txBox="1">
            <a:spLocks noGrp="1"/>
          </p:cNvSpPr>
          <p:nvPr>
            <p:ph type="title"/>
          </p:nvPr>
        </p:nvSpPr>
        <p:spPr>
          <a:xfrm>
            <a:off x="457200" y="361950"/>
            <a:ext cx="8229600" cy="609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Proof by Cases</a:t>
            </a:r>
            <a:endParaRPr/>
          </a:p>
        </p:txBody>
      </p:sp>
      <p:sp>
        <p:nvSpPr>
          <p:cNvPr id="92" name="Google Shape;92;p14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429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1" dirty="0"/>
              <a:t>Exercise:</a:t>
            </a:r>
            <a:r>
              <a:rPr lang="en-US" sz="2000" dirty="0"/>
              <a:t> For any n ∈ Z, n and n</a:t>
            </a:r>
            <a:r>
              <a:rPr lang="en-US" sz="2000" baseline="30000" dirty="0"/>
              <a:t>2</a:t>
            </a:r>
            <a:r>
              <a:rPr lang="en-US" sz="2000" dirty="0"/>
              <a:t> have the same parity (both even or both odd).</a:t>
            </a: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lang="en-US" sz="2000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1" dirty="0"/>
              <a:t>Lemma 2</a:t>
            </a:r>
            <a:r>
              <a:rPr lang="en-US" sz="2000" dirty="0"/>
              <a:t>: every integer is either even or odd (but not both).</a:t>
            </a:r>
            <a:endParaRPr sz="2000" b="1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178100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91696A-E685-C345-FC78-30D8A151E4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Proof by cases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94719690-3C1A-C7E8-C2CA-CB3D162A6F1E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sz="2400" dirty="0"/>
                  <a:t>For any integers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400" dirty="0"/>
                  <a:t>,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400" dirty="0"/>
                  <a:t> and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400" dirty="0"/>
                  <a:t> are either both even or both odd</a:t>
                </a:r>
              </a:p>
            </p:txBody>
          </p:sp>
        </mc:Choice>
        <mc:Fallback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94719690-3C1A-C7E8-C2CA-CB3D162A6F1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858979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4"/>
          <p:cNvSpPr txBox="1">
            <a:spLocks noGrp="1"/>
          </p:cNvSpPr>
          <p:nvPr>
            <p:ph type="title"/>
          </p:nvPr>
        </p:nvSpPr>
        <p:spPr>
          <a:xfrm>
            <a:off x="457200" y="361950"/>
            <a:ext cx="8229600" cy="609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Proof by Cases</a:t>
            </a:r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2" name="Google Shape;92;p14"/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457200" y="1200150"/>
                <a:ext cx="7713023" cy="3429000"/>
              </a:xfrm>
              <a:prstGeom prst="rect">
                <a:avLst/>
              </a:prstGeom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lvl="0" indent="0" algn="l" rtl="0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lang="en-US" sz="2000" b="1" dirty="0"/>
                  <a:t>Exercise:</a:t>
                </a:r>
                <a:r>
                  <a:rPr lang="en-US" sz="2000" dirty="0"/>
                  <a:t> If q ∈ Z is not divisible by 3, then q</a:t>
                </a:r>
                <a:r>
                  <a:rPr lang="en-US" sz="2000" baseline="30000" dirty="0"/>
                  <a:t>2</a:t>
                </a:r>
                <a:r>
                  <a:rPr lang="en-US" sz="2000" dirty="0"/>
                  <a:t> mod 3 = 1.</a:t>
                </a:r>
              </a:p>
              <a:p>
                <a:pPr marL="0" lvl="0" indent="0" algn="l" rtl="0">
                  <a:spcBef>
                    <a:spcPts val="60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endParaRPr lang="en-US" dirty="0"/>
              </a:p>
              <a:p>
                <a:pPr marL="0" lvl="0" indent="0">
                  <a:buClr>
                    <a:schemeClr val="dk1"/>
                  </a:buClr>
                  <a:buSzPts val="1100"/>
                </a:pPr>
                <a:r>
                  <a:rPr lang="en-US" sz="2000" b="1" dirty="0"/>
                  <a:t>Definition 5</a:t>
                </a:r>
                <a:r>
                  <a:rPr lang="en-US" sz="2000" dirty="0"/>
                  <a:t>: For integers a, b, c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𝑍</m:t>
                    </m:r>
                  </m:oMath>
                </a14:m>
                <a:r>
                  <a:rPr lang="en-US" sz="2000" dirty="0"/>
                  <a:t>, we say that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000" b="0" i="0" dirty="0" smtClean="0"/>
                      <m:t> a mod b = c </m:t>
                    </m:r>
                  </m:oMath>
                </a14:m>
                <a:r>
                  <a:rPr lang="en-US" sz="2000" dirty="0"/>
                  <a:t> if c is the remainder after dividing a by b, that is, there exists some integer k such that a = kb + c.</a:t>
                </a:r>
              </a:p>
              <a:p>
                <a:pPr marL="0" lvl="0" indent="0">
                  <a:buClr>
                    <a:schemeClr val="dk1"/>
                  </a:buClr>
                  <a:buSzPts val="1100"/>
                </a:pPr>
                <a:endParaRPr lang="en-US" sz="2000" dirty="0"/>
              </a:p>
              <a:p>
                <a:pPr marL="0" lvl="0" indent="0">
                  <a:buClr>
                    <a:schemeClr val="dk1"/>
                  </a:buClr>
                  <a:buSzPts val="1100"/>
                </a:pPr>
                <a:r>
                  <a:rPr lang="en-US" sz="2000" b="1" dirty="0"/>
                  <a:t>Lemma 1</a:t>
                </a:r>
                <a:r>
                  <a:rPr lang="en-US" sz="2000" dirty="0"/>
                  <a:t>: for any integers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000" b="1" i="0" smtClean="0">
                        <a:latin typeface="Cambria Math" panose="02040503050406030204" pitchFamily="18" charset="0"/>
                      </a:rPr>
                      <m:t>, </m:t>
                    </m:r>
                  </m:oMath>
                </a14:m>
                <a:r>
                  <a:rPr lang="en-US" sz="2000" dirty="0"/>
                  <a:t>the remainder after dividing a by b is another integer in 0…b-1. That is, 0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000" b="0" i="0" smtClean="0">
                        <a:latin typeface="Cambria Math" panose="02040503050406030204" pitchFamily="18" charset="0"/>
                      </a:rPr>
                      <m:t>mod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−1</m:t>
                    </m:r>
                  </m:oMath>
                </a14:m>
                <a:r>
                  <a:rPr lang="en-US" sz="2000" dirty="0"/>
                  <a:t>.</a:t>
                </a:r>
                <a:endParaRPr sz="2000" dirty="0"/>
              </a:p>
            </p:txBody>
          </p:sp>
        </mc:Choice>
        <mc:Fallback xmlns="">
          <p:sp>
            <p:nvSpPr>
              <p:cNvPr id="92" name="Google Shape;92;p14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7200" y="1200150"/>
                <a:ext cx="7713023" cy="3429000"/>
              </a:xfrm>
              <a:prstGeom prst="rect">
                <a:avLst/>
              </a:prstGeom>
              <a:blipFill>
                <a:blip r:embed="rId3"/>
                <a:stretch>
                  <a:fillRect l="-987" r="-9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137814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A7AE91-E62B-EA28-6E46-45065BC46E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Proof by cases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51182A-85E9-1E37-2492-D08905B83A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000" dirty="0"/>
              <a:t>Consider the absolute value function, defined as</a:t>
            </a:r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r>
              <a:rPr lang="en-US" sz="2000" dirty="0"/>
              <a:t>Prove that for any x, |x| = |-x|. 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634671A-0905-B4C1-BBE5-A6AC40ED12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6890" y="1657515"/>
            <a:ext cx="6045200" cy="1092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65158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5"/>
          <p:cNvSpPr txBox="1">
            <a:spLocks noGrp="1"/>
          </p:cNvSpPr>
          <p:nvPr>
            <p:ph type="title"/>
          </p:nvPr>
        </p:nvSpPr>
        <p:spPr>
          <a:xfrm>
            <a:off x="457200" y="361950"/>
            <a:ext cx="8229600" cy="609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Disproof by example</a:t>
            </a:r>
            <a:endParaRPr dirty="0"/>
          </a:p>
        </p:txBody>
      </p:sp>
      <p:sp>
        <p:nvSpPr>
          <p:cNvPr id="99" name="Google Shape;99;p15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429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17500" algn="l" rtl="0">
              <a:spcBef>
                <a:spcPts val="600"/>
              </a:spcBef>
              <a:spcAft>
                <a:spcPts val="0"/>
              </a:spcAft>
              <a:buSzPts val="1400"/>
              <a:buChar char="●"/>
            </a:pPr>
            <a:r>
              <a:rPr lang="en-US" sz="2000" dirty="0"/>
              <a:t>One example is not sufficient to prove a statement.</a:t>
            </a:r>
            <a:endParaRPr sz="2000" dirty="0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 sz="2000" dirty="0"/>
              <a:t>One counterexample is sufficient to disprove it.</a:t>
            </a:r>
            <a:endParaRPr sz="2000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2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6"/>
          <p:cNvSpPr txBox="1">
            <a:spLocks noGrp="1"/>
          </p:cNvSpPr>
          <p:nvPr>
            <p:ph type="title"/>
          </p:nvPr>
        </p:nvSpPr>
        <p:spPr>
          <a:xfrm>
            <a:off x="457200" y="361950"/>
            <a:ext cx="8229600" cy="609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Disproof by example</a:t>
            </a:r>
            <a:endParaRPr dirty="0"/>
          </a:p>
        </p:txBody>
      </p:sp>
      <p:sp>
        <p:nvSpPr>
          <p:cNvPr id="106" name="Google Shape;106;p16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429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lang="en-US" sz="1800" b="1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lang="en-US" sz="1800" b="1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800" b="1" dirty="0"/>
              <a:t>Example:</a:t>
            </a:r>
            <a:r>
              <a:rPr lang="en-US" sz="1800" dirty="0"/>
              <a:t> Let a, b ∈ Z. If a is odd and b is odd, then </a:t>
            </a:r>
            <a:r>
              <a:rPr lang="en-US" sz="1800" dirty="0" err="1"/>
              <a:t>a+b</a:t>
            </a:r>
            <a:r>
              <a:rPr lang="en-US" sz="1800" dirty="0"/>
              <a:t> is odd.</a:t>
            </a:r>
            <a:endParaRPr sz="1800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1800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1800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1800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800" b="1" dirty="0"/>
              <a:t>Exercise:</a:t>
            </a:r>
            <a:r>
              <a:rPr lang="en-US" sz="1800" dirty="0"/>
              <a:t> For every n ∈ Z, the integer f (n) = n</a:t>
            </a:r>
            <a:r>
              <a:rPr lang="en-US" sz="1800" baseline="30000" dirty="0"/>
              <a:t>2</a:t>
            </a:r>
            <a:r>
              <a:rPr lang="en-US" sz="1800" dirty="0"/>
              <a:t> − n+11 is prime.</a:t>
            </a: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lang="en-US" sz="1800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1800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MU PPT Theme">
  <a:themeElements>
    <a:clrScheme name="Custom 1">
      <a:dk1>
        <a:srgbClr val="000000"/>
      </a:dk1>
      <a:lt1>
        <a:srgbClr val="FFFFFF"/>
      </a:lt1>
      <a:dk2>
        <a:srgbClr val="75787B"/>
      </a:dk2>
      <a:lt2>
        <a:srgbClr val="C8C9C7"/>
      </a:lt2>
      <a:accent1>
        <a:srgbClr val="BB0000"/>
      </a:accent1>
      <a:accent2>
        <a:srgbClr val="75787B"/>
      </a:accent2>
      <a:accent3>
        <a:srgbClr val="00833C"/>
      </a:accent3>
      <a:accent4>
        <a:srgbClr val="F2A900"/>
      </a:accent4>
      <a:accent5>
        <a:srgbClr val="002C71"/>
      </a:accent5>
      <a:accent6>
        <a:srgbClr val="C8C9C7"/>
      </a:accent6>
      <a:hlink>
        <a:srgbClr val="BB0000"/>
      </a:hlink>
      <a:folHlink>
        <a:srgbClr val="8200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7429</TotalTime>
  <Words>1009</Words>
  <Application>Microsoft Macintosh PowerPoint</Application>
  <PresentationFormat>On-screen Show (16:9)</PresentationFormat>
  <Paragraphs>115</Paragraphs>
  <Slides>18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Open Sans Light</vt:lpstr>
      <vt:lpstr>Arial</vt:lpstr>
      <vt:lpstr>Cambria Math</vt:lpstr>
      <vt:lpstr>Open Sans</vt:lpstr>
      <vt:lpstr>Helvetica Neue Light</vt:lpstr>
      <vt:lpstr>CMU PPT Theme</vt:lpstr>
      <vt:lpstr>PowerPoint Presentation</vt:lpstr>
      <vt:lpstr>Lecture Overview</vt:lpstr>
      <vt:lpstr>Proof by Construction</vt:lpstr>
      <vt:lpstr>Proof by Construction</vt:lpstr>
      <vt:lpstr>Setting: proving things about integers</vt:lpstr>
      <vt:lpstr>Proof by construction</vt:lpstr>
      <vt:lpstr>Proof by construction</vt:lpstr>
      <vt:lpstr>Proof by construction</vt:lpstr>
      <vt:lpstr>Common mistakes</vt:lpstr>
      <vt:lpstr>Common mistakes</vt:lpstr>
      <vt:lpstr>Proof by Cases</vt:lpstr>
      <vt:lpstr>Proof by Cases</vt:lpstr>
      <vt:lpstr>Proof by Cases</vt:lpstr>
      <vt:lpstr>Proof by cases</vt:lpstr>
      <vt:lpstr>Proof by Cases</vt:lpstr>
      <vt:lpstr>Proof by cases</vt:lpstr>
      <vt:lpstr>Disproof by example</vt:lpstr>
      <vt:lpstr>Disproof by example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Bryan Wilder</cp:lastModifiedBy>
  <cp:revision>22</cp:revision>
  <dcterms:modified xsi:type="dcterms:W3CDTF">2026-10-21T14:45:05Z</dcterms:modified>
</cp:coreProperties>
</file>